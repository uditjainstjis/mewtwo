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Calibri"/>
              </a:rPr>
              <a:t>SYNAPTA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Sovereign AI for regulated enterprise.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Frontier-class reasoning,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on a single GPU,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inside your firewall —</a:t>
            </a:r>
          </a:p>
          <a:p>
            <a:pPr algn="l"/>
            <a:r>
              <a:rPr sz="5000" b="1">
                <a:solidFill>
                  <a:srgbClr val="00D4FF"/>
                </a:solidFill>
                <a:latin typeface="Calibri"/>
              </a:rPr>
              <a:t>for sovereign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0AEC0"/>
                </a:solidFill>
                <a:latin typeface="Calibri"/>
              </a:rPr>
              <a:t>An adapter-routing platform that lets any open base model host dozens of swappable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0AEC0"/>
                </a:solidFill>
                <a:latin typeface="Calibri"/>
              </a:rPr>
              <a:t>domain experts. Customer's data never leaves their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695"/>
                </a:solidFill>
                <a:latin typeface="Calibri"/>
              </a:rPr>
              <a:t>SOLO FOUNDER  ·  19  ·  4 RESEARCH PAPERS  ·  VALIDATED AT 30B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70% of enterprise AI data is legally restricted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D4FF"/>
                </a:solidFill>
                <a:latin typeface="Calibri"/>
              </a:rPr>
              <a:t>from leaving its country of origin.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3566160" cy="237744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0" b="1">
                <a:solidFill>
                  <a:srgbClr val="00D4FF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frontier APIs satisfy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RBI · SEBI · DPDP · EU AI 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data localization mandates.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108960"/>
            <a:ext cx="3566160" cy="237744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3383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10E0A0"/>
                </a:solidFill>
                <a:latin typeface="Calibri"/>
              </a:rPr>
              <a:t>$400M – 1B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3891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Indian BFSI back-office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709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AI spend addressable in our wedge.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~200 mid-tier institutions.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108960"/>
            <a:ext cx="3566160" cy="237744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3832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>
                <a:solidFill>
                  <a:srgbClr val="F59E0B"/>
                </a:solidFill>
                <a:latin typeface="Calibri"/>
              </a:rPr>
              <a:t>20×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434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lower compute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754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vs self-hosted frontier-class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074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(64× H100 cluster vs 2-3× H100).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0AEC0"/>
                </a:solidFill>
                <a:latin typeface="Calibri"/>
              </a:rPr>
              <a:t>Frontier APIs cannot serve regulated buyers. Frontier self-hosting is unaffordable.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  <a:latin typeface="Calibri"/>
              </a:rPr>
              <a:t>We are the third option.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THE NON-OBVIOUS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A0AEC0"/>
                </a:solidFill>
                <a:latin typeface="Calibri"/>
              </a:rPr>
              <a:t>We discovered something nobody else has published.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 reasoning tasks,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D4FF"/>
                </a:solidFill>
                <a:latin typeface="Calibri"/>
              </a:rPr>
              <a:t>code-trained adapters beat math-trained adapters.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029200" cy="182880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AEC0"/>
                </a:solidFill>
                <a:latin typeface="Calibri"/>
              </a:rPr>
              <a:t>MATH ADAPTER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50.5%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709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0AEC0"/>
                </a:solidFill>
                <a:latin typeface="Calibri"/>
              </a:rPr>
              <a:t>on MATH-500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983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695"/>
                </a:solidFill>
                <a:latin typeface="Calibri"/>
              </a:rPr>
              <a:t>(specialized fine-tuning)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840480"/>
            <a:ext cx="5029200" cy="182880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CODE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443484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>
                <a:solidFill>
                  <a:srgbClr val="00D4FF"/>
                </a:solidFill>
                <a:latin typeface="Calibri"/>
              </a:rPr>
              <a:t>56.0%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709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0AEC0"/>
                </a:solidFill>
                <a:latin typeface="Calibri"/>
              </a:rPr>
              <a:t>on MATH-500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983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E0A0"/>
                </a:solidFill>
                <a:latin typeface="Calibri"/>
              </a:rPr>
              <a:t>(+5.5 over math adapter)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Implication:  Specialized fine-tuning isn't the bottleneck.  Composition 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695"/>
                </a:solidFill>
                <a:latin typeface="Calibri"/>
              </a:rPr>
              <a:t>n=200 · Nemotron-3-Nano-30B · NeurIPS submission in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MEASURED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A0AEC0"/>
                </a:solidFill>
                <a:latin typeface="Calibri"/>
              </a:rPr>
              <a:t>Same hardware. Same base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D4FF"/>
                </a:solidFill>
                <a:latin typeface="Calibri"/>
              </a:rPr>
              <a:t>+6 to +20.1 points across BFSI and reasoning benchmarks.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310896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066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Calibri"/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2560320"/>
            <a:ext cx="155448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7066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D4FF"/>
                </a:solidFill>
                <a:latin typeface="Calibri"/>
              </a:rPr>
              <a:t>RBI Doc-QA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2560320"/>
            <a:ext cx="173736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27066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D4FF"/>
                </a:solidFill>
                <a:latin typeface="Calibri"/>
              </a:rPr>
              <a:t>FinanceBench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560320"/>
            <a:ext cx="137160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2706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D4FF"/>
                </a:solidFill>
                <a:latin typeface="Calibri"/>
              </a:rPr>
              <a:t>MBPP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560320"/>
            <a:ext cx="155448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7066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D4FF"/>
                </a:solidFill>
                <a:latin typeface="Calibri"/>
              </a:rPr>
              <a:t>HumanEval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560320"/>
            <a:ext cx="1554480" cy="548640"/>
          </a:xfrm>
          <a:prstGeom prst="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27066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D4FF"/>
                </a:solidFill>
                <a:latin typeface="Calibri"/>
              </a:rPr>
              <a:t>MATH-500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108960"/>
            <a:ext cx="310896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0AEC0"/>
                </a:solidFill>
                <a:latin typeface="Calibri"/>
              </a:rPr>
              <a:t>Base Nemotron-30B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310896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325526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Calibri"/>
              </a:rPr>
              <a:t>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3108960"/>
            <a:ext cx="173736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0" y="325526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Calibri"/>
              </a:rPr>
              <a:t>24.0%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108960"/>
            <a:ext cx="137160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32552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Calibri"/>
              </a:rPr>
              <a:t>42.1%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10896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325526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Calibri"/>
              </a:rPr>
              <a:t>56.1%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310896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325526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A0AEC0"/>
                </a:solidFill>
                <a:latin typeface="Calibri"/>
              </a:rPr>
              <a:t>41.5%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657600"/>
            <a:ext cx="310896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8039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Best Single Adapter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657600"/>
            <a:ext cx="155448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0" y="3657600"/>
            <a:ext cx="173736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0" y="380390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3657600"/>
            <a:ext cx="137160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38039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3657600"/>
            <a:ext cx="155448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60.0%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66960" y="3657600"/>
            <a:ext cx="1554480" cy="5486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380390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56.0%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206240"/>
            <a:ext cx="310896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3525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Our Format Guard Routing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20624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31920" y="43525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  <a:latin typeface="Calibri"/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0" y="4206240"/>
            <a:ext cx="173736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435254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  <a:latin typeface="Calibri"/>
              </a:rPr>
              <a:t>30.0%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40880" y="4206240"/>
            <a:ext cx="137160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3760" y="43525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  <a:latin typeface="Calibri"/>
              </a:rPr>
              <a:t>62.2%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420624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0" y="43525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  <a:latin typeface="Calibri"/>
              </a:rPr>
              <a:t>73.2%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66960" y="4206240"/>
            <a:ext cx="1554480" cy="548640"/>
          </a:xfrm>
          <a:prstGeom prst="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49840" y="43525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  <a:latin typeface="Calibri"/>
              </a:rPr>
              <a:t>56.0%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E0A0"/>
                </a:solidFill>
                <a:latin typeface="Calibri"/>
              </a:rPr>
              <a:t>RBI document QA: 100% extraction accuracy — production-ready for regulated content.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  <a:latin typeface="Calibri"/>
              </a:rPr>
              <a:t>Format Guard routing: +20.1 pp MBPP, +17.1 pp HumanEval, +6 pp FinanceBench.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695"/>
                </a:solidFill>
                <a:latin typeface="Calibri"/>
              </a:rPr>
              <a:t>n: RBI=30 hand-curated, FinanceBench=50, MBPP=164, HumanEval=164. p&lt;0.001 (McNemar) on HumanEval.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HOW IT WORKS · WHY IT CANNOT BE COPIED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One adapter system. Any base. Any infrastructure.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029200" cy="868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762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EDGE / MOBILE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7B Gemma · Phi · Qwen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Phones, laptops, kiosks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81528"/>
            <a:ext cx="5029200" cy="868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MID-TIER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015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30-70B Nemotron · 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758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On-prem servers, single-GPU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59936"/>
            <a:ext cx="5029200" cy="868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33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7997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100-200B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5429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Datacenter, multi-GPU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38344"/>
            <a:ext cx="5029200" cy="868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111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FRONTIER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5838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500B+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327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Hyperscaler-grade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03120"/>
            <a:ext cx="5120640" cy="3931920"/>
          </a:xfrm>
          <a:prstGeom prst="roundRect">
            <a:avLst/>
          </a:prstGeom>
          <a:solidFill>
            <a:srgbClr val="1C254F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286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Calibri"/>
              </a:rPr>
              <a:t>ADAPTER LIBRARY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Customer-portable across all tiers.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063240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154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8B5CF6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063240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3154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D4FF"/>
                </a:solidFill>
                <a:latin typeface="Calibri"/>
              </a:rPr>
              <a:t>FRAUD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584448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10E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36758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E0A0"/>
                </a:solidFill>
                <a:latin typeface="Calibri"/>
              </a:rPr>
              <a:t>LEGAL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584448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6758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Calibri"/>
              </a:rPr>
              <a:t>RESEARCH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105656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1970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6B6B"/>
                </a:solidFill>
                <a:latin typeface="Calibri"/>
              </a:rPr>
              <a:t>MEDICAL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105656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41970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D4FF"/>
                </a:solidFill>
                <a:latin typeface="Calibri"/>
              </a:rPr>
              <a:t>CODE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626864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0" y="47183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8B5CF6"/>
                </a:solidFill>
                <a:latin typeface="Calibri"/>
              </a:rPr>
              <a:t>MATH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6840" y="4626864"/>
            <a:ext cx="2194560" cy="411480"/>
          </a:xfrm>
          <a:prstGeom prst="roundRect">
            <a:avLst/>
          </a:prstGeom>
          <a:solidFill>
            <a:srgbClr val="141B3D"/>
          </a:solidFill>
          <a:ln w="12700">
            <a:solidFill>
              <a:srgbClr val="10E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06840" y="47183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E0A0"/>
                </a:solidFill>
                <a:latin typeface="Calibri"/>
              </a:rPr>
              <a:t>SCIENCE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+ unlimited custom domains.  Per-customer marginal cost: ~$10-20.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Moat: frontier labs cannot ship this. Their unit economics depend on single-model API routing.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WHERE WE WIN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Indian BFSI back-office reasoning.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A0AEC0"/>
                </a:solidFill>
                <a:latin typeface="Calibri"/>
              </a:rPr>
              <a:t>Validated: 100% on 30 hand-curated RBI Master Direction questions. Production-ready.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3611880" cy="29260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64592" cy="2926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01 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RBI / SEBI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320"/>
            <a:ext cx="3063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Auto-summarization, gap detection, and submission drafting on regulated documents that legally cannot leave the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$80-150K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66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annual contract per institution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2560320"/>
            <a:ext cx="3611880" cy="29260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2560320"/>
            <a:ext cx="164592" cy="29260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alibri"/>
              </a:rPr>
              <a:t>02 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Equity &amp; credit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03320"/>
            <a:ext cx="3063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Mid-tier asset managers and NBFCs need GPT-4-class document reasoning but legally cannot use it. Adapter-tuned 30B closes the gap.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4846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8B5CF6"/>
                </a:solidFill>
                <a:latin typeface="Calibri"/>
              </a:rPr>
              <a:t>$60-120K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5166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annual contract per institution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2560320"/>
            <a:ext cx="3611880" cy="29260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4" y="2560320"/>
            <a:ext cx="164592" cy="2926080"/>
          </a:xfrm>
          <a:prstGeom prst="rect">
            <a:avLst/>
          </a:prstGeom>
          <a:solidFill>
            <a:srgbClr val="10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2788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E0A0"/>
                </a:solidFill>
                <a:latin typeface="Calibri"/>
              </a:rPr>
              <a:t>03  FRAUD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Pattern detection on PII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8784" y="3703320"/>
            <a:ext cx="3063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Transaction-level reasoning over data that triggers DPDP Act protection. On-prem deployment is the only legal architecture.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8784" y="4846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0E0A0"/>
                </a:solidFill>
                <a:latin typeface="Calibri"/>
              </a:rPr>
              <a:t>$100-200K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5166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0AEC0"/>
                </a:solidFill>
                <a:latin typeface="Calibri"/>
              </a:rPr>
              <a:t>annual contract per institution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~200 target institutions × $200K avg ACV  =  $40M ARR potential in wedge alone.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Adjacencies: healthcare, defense, govt — same sovereignty buying motion.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WHY THIS GETS BUILT BY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D4FF"/>
                </a:solidFill>
                <a:latin typeface="Calibri"/>
              </a:rPr>
              <a:t>Solo. 19. Built what 4-senior teams couldn't.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697480" cy="2011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AGE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Started shipping 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83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5+ years deep before college.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2011680"/>
            <a:ext cx="2697480" cy="2011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2402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ICPC INDIA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651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Built the prelims landing site.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383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Lead tech for India's biggest competitive bootcamp.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2011680"/>
            <a:ext cx="2697480" cy="2011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22402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BHARAT MANDAPAM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51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VisionOS app in one week,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3383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starting from zero knowledge of the platform.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26296" y="2011680"/>
            <a:ext cx="2697480" cy="201168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4896" y="22402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YESTERDAY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4896" y="2651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Won international ECG hackathon.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3383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Hardware + ML + fine-tuned model in 12 of 48 hours.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97680"/>
            <a:ext cx="10972800" cy="1737360"/>
          </a:xfrm>
          <a:prstGeom prst="roundRect">
            <a:avLst/>
          </a:prstGeom>
          <a:solidFill>
            <a:srgbClr val="1C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ALREADY BUILT — SOLO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7091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Adapter system validated on Nemotron-30B (4-bit, RTX 5090).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83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12 routing techniques tested. 4 research artifacts in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57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20+ adapters trained across base models.  Code Paradox: novel finding, n=200.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32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WebSocket investor demo + adapter-routing visualization shipped.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06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E0A0"/>
                </a:solidFill>
                <a:latin typeface="Calibri"/>
              </a:rPr>
              <a:t>10+ BFSI conversations scheduled May 5–13 via college + Shark Tank network.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What I need is leverage — capital, hardware, and customer access — not validation.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D4FF"/>
                </a:solidFill>
                <a:latin typeface="Calibri"/>
              </a:rPr>
              <a:t>WHAT WE'RE RAISING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411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695"/>
                </a:solidFill>
                <a:latin typeface="Calibri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B7695"/>
                </a:solidFill>
                <a:latin typeface="Calibri"/>
              </a:rPr>
              <a:t>SYNAPTA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Raising $500K SAFE.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A0AEC0"/>
                </a:solidFill>
                <a:latin typeface="Calibri"/>
              </a:rPr>
              <a:t>12-month runway to first 3 BFSI design partners and 200B-scale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5440680" cy="3291840"/>
          </a:xfrm>
          <a:prstGeom prst="roundRect">
            <a:avLst/>
          </a:prstGeom>
          <a:solidFill>
            <a:srgbClr val="14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290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D4FF"/>
                </a:solidFill>
                <a:latin typeface="Calibri"/>
              </a:rP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2044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Cloud GPU access for 70-200B scaling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D4FF"/>
                </a:solidFill>
                <a:latin typeface="Calibri"/>
              </a:rPr>
              <a:t>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9768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First 3 BFSI design partners — pipeline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834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D4FF"/>
                </a:solidFill>
                <a:latin typeface="Calibri"/>
              </a:rP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Founder + minimum infra to 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651760"/>
            <a:ext cx="5440680" cy="3291840"/>
          </a:xfrm>
          <a:prstGeom prst="roundRect">
            <a:avLst/>
          </a:prstGeom>
          <a:solidFill>
            <a:srgbClr val="1C254F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Calibri"/>
              </a:rPr>
              <a:t>TODAY'S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From this room, three things: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947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77647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Azure / cloud GPU credits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0873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$50-150K to validate at 70B+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805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46227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Two BFSI customer intros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7731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Mid-tier banks or NBFCs in India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1663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514807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Advisory relationship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54589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0AEC0"/>
                </a:solidFill>
                <a:latin typeface="Calibri"/>
              </a:rPr>
              <a:t>30 min / month for 12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Sovereign AI is a 5-year tailwind. We are 12 months ahead on the architecture.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The window to build the platform closes when frontier labs notice it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