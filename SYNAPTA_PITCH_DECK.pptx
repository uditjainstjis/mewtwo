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D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48640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00D4FF"/>
                </a:solidFill>
                <a:latin typeface="Calibri"/>
              </a:rPr>
              <a:t>SYNAPTA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68680"/>
            <a:ext cx="9144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A0AEC0"/>
                </a:solidFill>
                <a:latin typeface="Calibri"/>
              </a:rPr>
              <a:t>Sovereign AI for regulated enterprise.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828800"/>
            <a:ext cx="10972800" cy="3200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5000" b="1">
                <a:solidFill>
                  <a:srgbClr val="FFFFFF"/>
                </a:solidFill>
                <a:latin typeface="Calibri"/>
              </a:rPr>
              <a:t>Frontier-class reasoning,</a:t>
            </a:r>
          </a:p>
          <a:p>
            <a:pPr algn="l"/>
            <a:r>
              <a:rPr sz="5000" b="1">
                <a:solidFill>
                  <a:srgbClr val="FFFFFF"/>
                </a:solidFill>
                <a:latin typeface="Calibri"/>
              </a:rPr>
              <a:t>sized for your infrastructure,</a:t>
            </a:r>
          </a:p>
          <a:p>
            <a:pPr algn="l"/>
            <a:r>
              <a:rPr sz="5000" b="1">
                <a:solidFill>
                  <a:srgbClr val="FFFFFF"/>
                </a:solidFill>
                <a:latin typeface="Calibri"/>
              </a:rPr>
              <a:t>inside your firewall —</a:t>
            </a:r>
          </a:p>
          <a:p>
            <a:pPr algn="l"/>
            <a:r>
              <a:rPr sz="5000" b="1">
                <a:solidFill>
                  <a:srgbClr val="00D4FF"/>
                </a:solidFill>
                <a:latin typeface="Calibri"/>
              </a:rPr>
              <a:t>at 20× lower compute cost.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12064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A0AEC0"/>
                </a:solidFill>
                <a:latin typeface="Calibri"/>
              </a:rPr>
              <a:t>An adapter-routing platform that lets any open base model host dozens of swappable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544068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A0AEC0"/>
                </a:solidFill>
                <a:latin typeface="Calibri"/>
              </a:rPr>
              <a:t>domain experts. Customer's data never leaves their infrastructure.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612648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6B7695"/>
                </a:solidFill>
                <a:latin typeface="Calibri"/>
              </a:rPr>
              <a:t>SOLO FOUNDER  ·  19  ·  4 RESEARCH PAPERS  ·  VALIDATED AT 30B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D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00D4FF"/>
                </a:solidFill>
                <a:latin typeface="Calibri"/>
              </a:rPr>
              <a:t>WHY NOW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41148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6B7695"/>
                </a:solidFill>
                <a:latin typeface="Calibri"/>
              </a:rPr>
              <a:t>02 / 08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537960"/>
            <a:ext cx="914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>
                <a:solidFill>
                  <a:srgbClr val="6B7695"/>
                </a:solidFill>
                <a:latin typeface="Calibri"/>
              </a:rPr>
              <a:t>SYNAPTA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00584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Calibri"/>
              </a:rPr>
              <a:t>70% of enterprise AI data is legally restricted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55448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>
                <a:solidFill>
                  <a:srgbClr val="00D4FF"/>
                </a:solidFill>
                <a:latin typeface="Calibri"/>
              </a:rPr>
              <a:t>from leaving its country of origin.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108960"/>
            <a:ext cx="3566160" cy="2377440"/>
          </a:xfrm>
          <a:prstGeom prst="roundRect">
            <a:avLst/>
          </a:prstGeom>
          <a:solidFill>
            <a:srgbClr val="141B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3291840"/>
            <a:ext cx="356616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6800" b="1">
                <a:solidFill>
                  <a:srgbClr val="00D4FF"/>
                </a:solidFill>
                <a:latin typeface="Calibri"/>
              </a:rPr>
              <a:t>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434840"/>
            <a:ext cx="3566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0">
                <a:solidFill>
                  <a:srgbClr val="A0AEC0"/>
                </a:solidFill>
                <a:latin typeface="Calibri"/>
              </a:rPr>
              <a:t>frontier APIs satisfy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4754880"/>
            <a:ext cx="3566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RBI · SEBI · DPDP · EU AI Act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5074920"/>
            <a:ext cx="3566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0">
                <a:solidFill>
                  <a:srgbClr val="A0AEC0"/>
                </a:solidFill>
                <a:latin typeface="Calibri"/>
              </a:rPr>
              <a:t>data localization mandates.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434840" y="3108960"/>
            <a:ext cx="3566160" cy="2377440"/>
          </a:xfrm>
          <a:prstGeom prst="roundRect">
            <a:avLst/>
          </a:prstGeom>
          <a:solidFill>
            <a:srgbClr val="141B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434840" y="3383280"/>
            <a:ext cx="356616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4200" b="1">
                <a:solidFill>
                  <a:srgbClr val="10E0A0"/>
                </a:solidFill>
                <a:latin typeface="Calibri"/>
              </a:rPr>
              <a:t>$400M – 1B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34840" y="4389120"/>
            <a:ext cx="3566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Indian BFSI back-office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34840" y="4709160"/>
            <a:ext cx="3566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0">
                <a:solidFill>
                  <a:srgbClr val="A0AEC0"/>
                </a:solidFill>
                <a:latin typeface="Calibri"/>
              </a:rPr>
              <a:t>AI spend addressable in our wedge.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34840" y="5029200"/>
            <a:ext cx="3566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0">
                <a:solidFill>
                  <a:srgbClr val="A0AEC0"/>
                </a:solidFill>
                <a:latin typeface="Calibri"/>
              </a:rPr>
              <a:t>~200 mid-tier institutions.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229600" y="3108960"/>
            <a:ext cx="3566160" cy="2377440"/>
          </a:xfrm>
          <a:prstGeom prst="roundRect">
            <a:avLst/>
          </a:prstGeom>
          <a:solidFill>
            <a:srgbClr val="141B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0" y="3383280"/>
            <a:ext cx="356616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6400" b="1">
                <a:solidFill>
                  <a:srgbClr val="F59E0B"/>
                </a:solidFill>
                <a:latin typeface="Calibri"/>
              </a:rPr>
              <a:t>20×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0" y="4434840"/>
            <a:ext cx="3566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lower compute cost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0" y="4754880"/>
            <a:ext cx="3566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0">
                <a:solidFill>
                  <a:srgbClr val="A0AEC0"/>
                </a:solidFill>
                <a:latin typeface="Calibri"/>
              </a:rPr>
              <a:t>vs self-hosted frontier-class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600" y="5074920"/>
            <a:ext cx="3566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0">
                <a:solidFill>
                  <a:srgbClr val="A0AEC0"/>
                </a:solidFill>
                <a:latin typeface="Calibri"/>
              </a:rPr>
              <a:t>(64× H100 cluster vs 2-3× H100).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" y="589788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A0AEC0"/>
                </a:solidFill>
                <a:latin typeface="Calibri"/>
              </a:rPr>
              <a:t>Frontier APIs cannot serve regulated buyers. Frontier self-hosting is unaffordable.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" y="626364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00D4FF"/>
                </a:solidFill>
                <a:latin typeface="Calibri"/>
              </a:rPr>
              <a:t>We are the third option.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D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00D4FF"/>
                </a:solidFill>
                <a:latin typeface="Calibri"/>
              </a:rPr>
              <a:t>THE NON-OBVIOUS TRUTH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41148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6B7695"/>
                </a:solidFill>
                <a:latin typeface="Calibri"/>
              </a:rPr>
              <a:t>03 / 08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537960"/>
            <a:ext cx="914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>
                <a:solidFill>
                  <a:srgbClr val="6B7695"/>
                </a:solidFill>
                <a:latin typeface="Calibri"/>
              </a:rPr>
              <a:t>SYNAPTA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005840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>
                <a:solidFill>
                  <a:srgbClr val="A0AEC0"/>
                </a:solidFill>
                <a:latin typeface="Calibri"/>
              </a:rPr>
              <a:t>We discovered something nobody else has published.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82880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Calibri"/>
              </a:rPr>
              <a:t>On reasoning tasks,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37744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000" b="1">
                <a:solidFill>
                  <a:srgbClr val="00D4FF"/>
                </a:solidFill>
                <a:latin typeface="Calibri"/>
              </a:rPr>
              <a:t>code-trained adapters beat math-trained adapters.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3840480"/>
            <a:ext cx="5029200" cy="1828800"/>
          </a:xfrm>
          <a:prstGeom prst="roundRect">
            <a:avLst/>
          </a:prstGeom>
          <a:solidFill>
            <a:srgbClr val="141B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4023360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A0AEC0"/>
                </a:solidFill>
                <a:latin typeface="Calibri"/>
              </a:rPr>
              <a:t>MATH ADAPTER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4434840"/>
            <a:ext cx="22860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5800" b="1">
                <a:solidFill>
                  <a:srgbClr val="FFFFFF"/>
                </a:solidFill>
                <a:latin typeface="Calibri"/>
              </a:rPr>
              <a:t>50.5%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108960" y="4709160"/>
            <a:ext cx="2286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A0AEC0"/>
                </a:solidFill>
                <a:latin typeface="Calibri"/>
              </a:rPr>
              <a:t>on MATH-500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108960" y="4983480"/>
            <a:ext cx="2286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6B7695"/>
                </a:solidFill>
                <a:latin typeface="Calibri"/>
              </a:rPr>
              <a:t>(specialized fine-tuning)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92240" y="3840480"/>
            <a:ext cx="5029200" cy="1828800"/>
          </a:xfrm>
          <a:prstGeom prst="roundRect">
            <a:avLst/>
          </a:prstGeom>
          <a:solidFill>
            <a:srgbClr val="141B3D"/>
          </a:solidFill>
          <a:ln w="12700">
            <a:solidFill>
              <a:srgbClr val="00D4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720840" y="4023360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00D4FF"/>
                </a:solidFill>
                <a:latin typeface="Calibri"/>
              </a:rPr>
              <a:t>CODE ADAPTER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20840" y="4434840"/>
            <a:ext cx="22860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5800" b="1">
                <a:solidFill>
                  <a:srgbClr val="00D4FF"/>
                </a:solidFill>
                <a:latin typeface="Calibri"/>
              </a:rPr>
              <a:t>56.0%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961120" y="4709160"/>
            <a:ext cx="2286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A0AEC0"/>
                </a:solidFill>
                <a:latin typeface="Calibri"/>
              </a:rPr>
              <a:t>on MATH-500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961120" y="4983480"/>
            <a:ext cx="2286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10E0A0"/>
                </a:solidFill>
                <a:latin typeface="Calibri"/>
              </a:rPr>
              <a:t>(+5.5 over math adapter)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589788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Calibri"/>
              </a:rPr>
              <a:t>Implication:  Specialized fine-tuning isn't the bottleneck.  Composition is.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630936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6B7695"/>
                </a:solidFill>
                <a:latin typeface="Calibri"/>
              </a:rPr>
              <a:t>n=200 · Nemotron-3-Nano-30B · NeurIPS submission in pipeline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D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00D4FF"/>
                </a:solidFill>
                <a:latin typeface="Calibri"/>
              </a:rPr>
              <a:t>MEASURED RESULTS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41148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6B7695"/>
                </a:solidFill>
                <a:latin typeface="Calibri"/>
              </a:rPr>
              <a:t>04 / 08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537960"/>
            <a:ext cx="914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>
                <a:solidFill>
                  <a:srgbClr val="6B7695"/>
                </a:solidFill>
                <a:latin typeface="Calibri"/>
              </a:rPr>
              <a:t>SYNAPTA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005840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>
                <a:solidFill>
                  <a:srgbClr val="A0AEC0"/>
                </a:solidFill>
                <a:latin typeface="Calibri"/>
              </a:rPr>
              <a:t>Same hardware. Same base model.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55448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>
                <a:solidFill>
                  <a:srgbClr val="00D4FF"/>
                </a:solidFill>
                <a:latin typeface="Calibri"/>
              </a:rPr>
              <a:t>+11 to +14.5 points across reasoning benchmarks.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2560320"/>
            <a:ext cx="3291840" cy="548640"/>
          </a:xfrm>
          <a:prstGeom prst="rect">
            <a:avLst/>
          </a:prstGeom>
          <a:solidFill>
            <a:srgbClr val="1C25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2706624"/>
            <a:ext cx="3291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00D4FF"/>
                </a:solidFill>
                <a:latin typeface="Calibri"/>
              </a:rPr>
              <a:t>Method</a:t>
            </a:r>
          </a:p>
        </p:txBody>
      </p:sp>
      <p:sp>
        <p:nvSpPr>
          <p:cNvPr id="10" name="Rectangle 9"/>
          <p:cNvSpPr/>
          <p:nvPr/>
        </p:nvSpPr>
        <p:spPr>
          <a:xfrm>
            <a:off x="3931920" y="2560320"/>
            <a:ext cx="1737360" cy="548640"/>
          </a:xfrm>
          <a:prstGeom prst="rect">
            <a:avLst/>
          </a:prstGeom>
          <a:solidFill>
            <a:srgbClr val="1C25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114800" y="2706624"/>
            <a:ext cx="17373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1">
                <a:solidFill>
                  <a:srgbClr val="00D4FF"/>
                </a:solidFill>
                <a:latin typeface="Calibri"/>
              </a:rPr>
              <a:t>ARC-Challenge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669280" y="2560320"/>
            <a:ext cx="1737360" cy="548640"/>
          </a:xfrm>
          <a:prstGeom prst="rect">
            <a:avLst/>
          </a:prstGeom>
          <a:solidFill>
            <a:srgbClr val="1C25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852160" y="2706624"/>
            <a:ext cx="17373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1">
                <a:solidFill>
                  <a:srgbClr val="00D4FF"/>
                </a:solidFill>
                <a:latin typeface="Calibri"/>
              </a:rPr>
              <a:t>MATH-500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406640" y="2560320"/>
            <a:ext cx="1737360" cy="548640"/>
          </a:xfrm>
          <a:prstGeom prst="rect">
            <a:avLst/>
          </a:prstGeom>
          <a:solidFill>
            <a:srgbClr val="1C25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589520" y="2706624"/>
            <a:ext cx="17373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1">
                <a:solidFill>
                  <a:srgbClr val="00D4FF"/>
                </a:solidFill>
                <a:latin typeface="Calibri"/>
              </a:rPr>
              <a:t>HumanEval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144000" y="2560320"/>
            <a:ext cx="1737360" cy="548640"/>
          </a:xfrm>
          <a:prstGeom prst="rect">
            <a:avLst/>
          </a:prstGeom>
          <a:solidFill>
            <a:srgbClr val="1C25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326880" y="2706624"/>
            <a:ext cx="17373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1">
                <a:solidFill>
                  <a:srgbClr val="00D4FF"/>
                </a:solidFill>
                <a:latin typeface="Calibri"/>
              </a:rPr>
              <a:t>MBPP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0080" y="3108960"/>
            <a:ext cx="3291840" cy="548640"/>
          </a:xfrm>
          <a:prstGeom prst="rect">
            <a:avLst/>
          </a:prstGeom>
          <a:solidFill>
            <a:srgbClr val="141B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" y="3255264"/>
            <a:ext cx="3291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A0AEC0"/>
                </a:solidFill>
                <a:latin typeface="Calibri"/>
              </a:rPr>
              <a:t>Base Nemotron-30B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931920" y="3108960"/>
            <a:ext cx="1737360" cy="548640"/>
          </a:xfrm>
          <a:prstGeom prst="rect">
            <a:avLst/>
          </a:prstGeom>
          <a:solidFill>
            <a:srgbClr val="141B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114800" y="3255264"/>
            <a:ext cx="17373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0">
                <a:solidFill>
                  <a:srgbClr val="A0AEC0"/>
                </a:solidFill>
                <a:latin typeface="Calibri"/>
              </a:rPr>
              <a:t>20.0%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669280" y="3108960"/>
            <a:ext cx="1737360" cy="548640"/>
          </a:xfrm>
          <a:prstGeom prst="rect">
            <a:avLst/>
          </a:prstGeom>
          <a:solidFill>
            <a:srgbClr val="141B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852160" y="3255264"/>
            <a:ext cx="17373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0">
                <a:solidFill>
                  <a:srgbClr val="A0AEC0"/>
                </a:solidFill>
                <a:latin typeface="Calibri"/>
              </a:rPr>
              <a:t>41.5%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406640" y="3108960"/>
            <a:ext cx="1737360" cy="548640"/>
          </a:xfrm>
          <a:prstGeom prst="rect">
            <a:avLst/>
          </a:prstGeom>
          <a:solidFill>
            <a:srgbClr val="141B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589520" y="3255264"/>
            <a:ext cx="17373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0">
                <a:solidFill>
                  <a:srgbClr val="A0AEC0"/>
                </a:solidFill>
                <a:latin typeface="Calibri"/>
              </a:rPr>
              <a:t>50.0%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144000" y="3108960"/>
            <a:ext cx="1737360" cy="548640"/>
          </a:xfrm>
          <a:prstGeom prst="rect">
            <a:avLst/>
          </a:prstGeom>
          <a:solidFill>
            <a:srgbClr val="141B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326880" y="3255264"/>
            <a:ext cx="17373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0">
                <a:solidFill>
                  <a:srgbClr val="A0AEC0"/>
                </a:solidFill>
                <a:latin typeface="Calibri"/>
              </a:rPr>
              <a:t>8.0%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40080" y="3657600"/>
            <a:ext cx="3291840" cy="548640"/>
          </a:xfrm>
          <a:prstGeom prst="rect">
            <a:avLst/>
          </a:prstGeom>
          <a:solidFill>
            <a:srgbClr val="0A0E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22960" y="3803904"/>
            <a:ext cx="3291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Calibri"/>
              </a:rPr>
              <a:t>Static Merge (DARE/TIES)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931920" y="3657600"/>
            <a:ext cx="1737360" cy="548640"/>
          </a:xfrm>
          <a:prstGeom prst="rect">
            <a:avLst/>
          </a:prstGeom>
          <a:solidFill>
            <a:srgbClr val="0A0E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114800" y="3803904"/>
            <a:ext cx="17373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0">
                <a:solidFill>
                  <a:srgbClr val="FFFFFF"/>
                </a:solidFill>
                <a:latin typeface="Calibri"/>
              </a:rPr>
              <a:t>19.0%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669280" y="3657600"/>
            <a:ext cx="1737360" cy="548640"/>
          </a:xfrm>
          <a:prstGeom prst="rect">
            <a:avLst/>
          </a:prstGeom>
          <a:solidFill>
            <a:srgbClr val="0A0E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852160" y="3803904"/>
            <a:ext cx="17373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0">
                <a:solidFill>
                  <a:srgbClr val="FFFFFF"/>
                </a:solidFill>
                <a:latin typeface="Calibri"/>
              </a:rPr>
              <a:t>56.0%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406640" y="3657600"/>
            <a:ext cx="1737360" cy="548640"/>
          </a:xfrm>
          <a:prstGeom prst="rect">
            <a:avLst/>
          </a:prstGeom>
          <a:solidFill>
            <a:srgbClr val="0A0E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589520" y="3803904"/>
            <a:ext cx="17373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0">
                <a:solidFill>
                  <a:srgbClr val="FFFFFF"/>
                </a:solidFill>
                <a:latin typeface="Calibri"/>
              </a:rPr>
              <a:t>34.0%</a:t>
            </a:r>
          </a:p>
        </p:txBody>
      </p:sp>
      <p:sp>
        <p:nvSpPr>
          <p:cNvPr id="36" name="Rectangle 35"/>
          <p:cNvSpPr/>
          <p:nvPr/>
        </p:nvSpPr>
        <p:spPr>
          <a:xfrm>
            <a:off x="9144000" y="3657600"/>
            <a:ext cx="1737360" cy="548640"/>
          </a:xfrm>
          <a:prstGeom prst="rect">
            <a:avLst/>
          </a:prstGeom>
          <a:solidFill>
            <a:srgbClr val="0A0E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326880" y="3803904"/>
            <a:ext cx="17373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0">
                <a:solidFill>
                  <a:srgbClr val="FFFFFF"/>
                </a:solidFill>
                <a:latin typeface="Calibri"/>
              </a:rPr>
              <a:t>0.0%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40080" y="4206240"/>
            <a:ext cx="3291840" cy="548640"/>
          </a:xfrm>
          <a:prstGeom prst="rect">
            <a:avLst/>
          </a:prstGeom>
          <a:solidFill>
            <a:srgbClr val="141B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22960" y="4352544"/>
            <a:ext cx="3291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Calibri"/>
              </a:rPr>
              <a:t>Best Single Adapter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931920" y="4206240"/>
            <a:ext cx="1737360" cy="548640"/>
          </a:xfrm>
          <a:prstGeom prst="rect">
            <a:avLst/>
          </a:prstGeom>
          <a:solidFill>
            <a:srgbClr val="141B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114800" y="4352544"/>
            <a:ext cx="17373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>
                <a:solidFill>
                  <a:srgbClr val="00D4FF"/>
                </a:solidFill>
                <a:latin typeface="Calibri"/>
              </a:rPr>
              <a:t>31.0%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669280" y="4206240"/>
            <a:ext cx="1737360" cy="548640"/>
          </a:xfrm>
          <a:prstGeom prst="rect">
            <a:avLst/>
          </a:prstGeom>
          <a:solidFill>
            <a:srgbClr val="141B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852160" y="4352544"/>
            <a:ext cx="17373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>
                <a:solidFill>
                  <a:srgbClr val="00D4FF"/>
                </a:solidFill>
                <a:latin typeface="Calibri"/>
              </a:rPr>
              <a:t>56.0%</a:t>
            </a:r>
          </a:p>
        </p:txBody>
      </p:sp>
      <p:sp>
        <p:nvSpPr>
          <p:cNvPr id="44" name="Rectangle 43"/>
          <p:cNvSpPr/>
          <p:nvPr/>
        </p:nvSpPr>
        <p:spPr>
          <a:xfrm>
            <a:off x="7406640" y="4206240"/>
            <a:ext cx="1737360" cy="548640"/>
          </a:xfrm>
          <a:prstGeom prst="rect">
            <a:avLst/>
          </a:prstGeom>
          <a:solidFill>
            <a:srgbClr val="141B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589520" y="4352544"/>
            <a:ext cx="17373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>
                <a:solidFill>
                  <a:srgbClr val="00D4FF"/>
                </a:solidFill>
                <a:latin typeface="Calibri"/>
              </a:rPr>
              <a:t>60.0%</a:t>
            </a:r>
          </a:p>
        </p:txBody>
      </p:sp>
      <p:sp>
        <p:nvSpPr>
          <p:cNvPr id="46" name="Rectangle 45"/>
          <p:cNvSpPr/>
          <p:nvPr/>
        </p:nvSpPr>
        <p:spPr>
          <a:xfrm>
            <a:off x="9144000" y="4206240"/>
            <a:ext cx="1737360" cy="548640"/>
          </a:xfrm>
          <a:prstGeom prst="rect">
            <a:avLst/>
          </a:prstGeom>
          <a:solidFill>
            <a:srgbClr val="141B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9326880" y="4352544"/>
            <a:ext cx="17373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0">
                <a:solidFill>
                  <a:srgbClr val="FFFFFF"/>
                </a:solidFill>
                <a:latin typeface="Calibri"/>
              </a:rPr>
              <a:t>6.0%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40080" y="4754880"/>
            <a:ext cx="3291840" cy="548640"/>
          </a:xfrm>
          <a:prstGeom prst="rect">
            <a:avLst/>
          </a:prstGeom>
          <a:solidFill>
            <a:srgbClr val="0A0E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822960" y="4901184"/>
            <a:ext cx="3291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Calibri"/>
              </a:rPr>
              <a:t>Our Adapter Routing</a:t>
            </a:r>
          </a:p>
        </p:txBody>
      </p:sp>
      <p:sp>
        <p:nvSpPr>
          <p:cNvPr id="50" name="Rectangle 49"/>
          <p:cNvSpPr/>
          <p:nvPr/>
        </p:nvSpPr>
        <p:spPr>
          <a:xfrm>
            <a:off x="3931920" y="4754880"/>
            <a:ext cx="1737360" cy="548640"/>
          </a:xfrm>
          <a:prstGeom prst="rect">
            <a:avLst/>
          </a:prstGeom>
          <a:solidFill>
            <a:srgbClr val="0A0E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4114800" y="4901184"/>
            <a:ext cx="17373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>
                <a:solidFill>
                  <a:srgbClr val="00D4FF"/>
                </a:solidFill>
                <a:latin typeface="Calibri"/>
              </a:rPr>
              <a:t>31.0%</a:t>
            </a:r>
          </a:p>
        </p:txBody>
      </p:sp>
      <p:sp>
        <p:nvSpPr>
          <p:cNvPr id="52" name="Rectangle 51"/>
          <p:cNvSpPr/>
          <p:nvPr/>
        </p:nvSpPr>
        <p:spPr>
          <a:xfrm>
            <a:off x="5669280" y="4754880"/>
            <a:ext cx="1737360" cy="548640"/>
          </a:xfrm>
          <a:prstGeom prst="rect">
            <a:avLst/>
          </a:prstGeom>
          <a:solidFill>
            <a:srgbClr val="0A0E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5852160" y="4901184"/>
            <a:ext cx="17373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>
                <a:solidFill>
                  <a:srgbClr val="00D4FF"/>
                </a:solidFill>
                <a:latin typeface="Calibri"/>
              </a:rPr>
              <a:t>56.0%</a:t>
            </a:r>
          </a:p>
        </p:txBody>
      </p:sp>
      <p:sp>
        <p:nvSpPr>
          <p:cNvPr id="54" name="Rectangle 53"/>
          <p:cNvSpPr/>
          <p:nvPr/>
        </p:nvSpPr>
        <p:spPr>
          <a:xfrm>
            <a:off x="7406640" y="4754880"/>
            <a:ext cx="1737360" cy="548640"/>
          </a:xfrm>
          <a:prstGeom prst="rect">
            <a:avLst/>
          </a:prstGeom>
          <a:solidFill>
            <a:srgbClr val="0A0E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7589520" y="4901184"/>
            <a:ext cx="17373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0">
                <a:solidFill>
                  <a:srgbClr val="FFFFFF"/>
                </a:solidFill>
                <a:latin typeface="Calibri"/>
              </a:rPr>
              <a:t>48.0%</a:t>
            </a:r>
          </a:p>
        </p:txBody>
      </p:sp>
      <p:sp>
        <p:nvSpPr>
          <p:cNvPr id="56" name="Rectangle 55"/>
          <p:cNvSpPr/>
          <p:nvPr/>
        </p:nvSpPr>
        <p:spPr>
          <a:xfrm>
            <a:off x="9144000" y="4754880"/>
            <a:ext cx="1737360" cy="548640"/>
          </a:xfrm>
          <a:prstGeom prst="rect">
            <a:avLst/>
          </a:prstGeom>
          <a:solidFill>
            <a:srgbClr val="0A0E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9326880" y="4901184"/>
            <a:ext cx="17373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0">
                <a:solidFill>
                  <a:srgbClr val="FFFFFF"/>
                </a:solidFill>
                <a:latin typeface="Calibri"/>
              </a:rPr>
              <a:t>5.0%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40080" y="553212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FF6B6B"/>
                </a:solidFill>
                <a:latin typeface="Calibri"/>
              </a:rPr>
              <a:t>Static merging COLLAPSES non-dominant benchmarks (ARC: -1, HumanEval: -16).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40080" y="585216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10E0A0"/>
                </a:solidFill>
                <a:latin typeface="Calibri"/>
              </a:rPr>
              <a:t>Routing PRESERVES peak expert performance across domains.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640080" y="617220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6B7695"/>
                </a:solidFill>
                <a:latin typeface="Calibri"/>
              </a:rPr>
              <a:t>Format Guard variant on HumanEval reaches 48% (+24 vs in-environment base).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D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00D4FF"/>
                </a:solidFill>
                <a:latin typeface="Calibri"/>
              </a:rPr>
              <a:t>HOW IT WORKS · WHY IT CANNOT BE COPIED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41148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6B7695"/>
                </a:solidFill>
                <a:latin typeface="Calibri"/>
              </a:rPr>
              <a:t>05 / 08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537960"/>
            <a:ext cx="914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>
                <a:solidFill>
                  <a:srgbClr val="6B7695"/>
                </a:solidFill>
                <a:latin typeface="Calibri"/>
              </a:rPr>
              <a:t>SYNAPTA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00584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Calibri"/>
              </a:rPr>
              <a:t>One adapter system. Any base. Any infrastructure.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2103120"/>
            <a:ext cx="5029200" cy="868680"/>
          </a:xfrm>
          <a:prstGeom prst="roundRect">
            <a:avLst/>
          </a:prstGeom>
          <a:solidFill>
            <a:srgbClr val="141B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2176272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00D4FF"/>
                </a:solidFill>
                <a:latin typeface="Calibri"/>
              </a:rPr>
              <a:t>EDGE / MOBILE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423160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Calibri"/>
              </a:rPr>
              <a:t>7B Gemma · Phi · Qwen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2697480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A0AEC0"/>
                </a:solidFill>
                <a:latin typeface="Calibri"/>
              </a:rPr>
              <a:t>Phones, laptops, kiosks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3081528"/>
            <a:ext cx="5029200" cy="868680"/>
          </a:xfrm>
          <a:prstGeom prst="roundRect">
            <a:avLst/>
          </a:prstGeom>
          <a:solidFill>
            <a:srgbClr val="141B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315468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00D4FF"/>
                </a:solidFill>
                <a:latin typeface="Calibri"/>
              </a:rPr>
              <a:t>MID-TIER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3401568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Calibri"/>
              </a:rPr>
              <a:t>30-70B Nemotron · Llama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3675888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A0AEC0"/>
                </a:solidFill>
                <a:latin typeface="Calibri"/>
              </a:rPr>
              <a:t>On-prem servers, single-GPU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4059936"/>
            <a:ext cx="5029200" cy="868680"/>
          </a:xfrm>
          <a:prstGeom prst="roundRect">
            <a:avLst/>
          </a:prstGeom>
          <a:solidFill>
            <a:srgbClr val="141B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8680" y="4133088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00D4FF"/>
                </a:solidFill>
                <a:latin typeface="Calibri"/>
              </a:rPr>
              <a:t>ENTERPRISE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" y="4379976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Calibri"/>
              </a:rPr>
              <a:t>100-200B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8680" y="4654296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A0AEC0"/>
                </a:solidFill>
                <a:latin typeface="Calibri"/>
              </a:rPr>
              <a:t>Datacenter, multi-GPU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" y="5038344"/>
            <a:ext cx="5029200" cy="868680"/>
          </a:xfrm>
          <a:prstGeom prst="roundRect">
            <a:avLst/>
          </a:prstGeom>
          <a:solidFill>
            <a:srgbClr val="141B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68680" y="5111496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00D4FF"/>
                </a:solidFill>
                <a:latin typeface="Calibri"/>
              </a:rPr>
              <a:t>FRONTIER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8680" y="5358384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Calibri"/>
              </a:rPr>
              <a:t>500B+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8680" y="5632704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A0AEC0"/>
                </a:solidFill>
                <a:latin typeface="Calibri"/>
              </a:rPr>
              <a:t>Hyperscaler-grade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400800" y="2103120"/>
            <a:ext cx="5120640" cy="3931920"/>
          </a:xfrm>
          <a:prstGeom prst="roundRect">
            <a:avLst/>
          </a:prstGeom>
          <a:solidFill>
            <a:srgbClr val="1C254F"/>
          </a:solidFill>
          <a:ln w="12700">
            <a:solidFill>
              <a:srgbClr val="00D4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675120" y="2286000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00D4FF"/>
                </a:solidFill>
                <a:latin typeface="Calibri"/>
              </a:rPr>
              <a:t>ADAPTER LIBRARY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675120" y="2606040"/>
            <a:ext cx="4572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A0AEC0"/>
                </a:solidFill>
                <a:latin typeface="Calibri"/>
              </a:rPr>
              <a:t>Customer-portable across all tiers.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675120" y="3063240"/>
            <a:ext cx="2194560" cy="411480"/>
          </a:xfrm>
          <a:prstGeom prst="roundRect">
            <a:avLst/>
          </a:prstGeom>
          <a:solidFill>
            <a:srgbClr val="141B3D"/>
          </a:solidFill>
          <a:ln w="12700">
            <a:solidFill>
              <a:srgbClr val="8B5C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675120" y="3154680"/>
            <a:ext cx="2194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>
                <a:solidFill>
                  <a:srgbClr val="8B5CF6"/>
                </a:solidFill>
                <a:latin typeface="Calibri"/>
              </a:rPr>
              <a:t>COMPLIANCE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006840" y="3063240"/>
            <a:ext cx="2194560" cy="411480"/>
          </a:xfrm>
          <a:prstGeom prst="roundRect">
            <a:avLst/>
          </a:prstGeom>
          <a:solidFill>
            <a:srgbClr val="141B3D"/>
          </a:solidFill>
          <a:ln w="12700">
            <a:solidFill>
              <a:srgbClr val="00D4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006840" y="3154680"/>
            <a:ext cx="2194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>
                <a:solidFill>
                  <a:srgbClr val="00D4FF"/>
                </a:solidFill>
                <a:latin typeface="Calibri"/>
              </a:rPr>
              <a:t>FRAUD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675120" y="3584448"/>
            <a:ext cx="2194560" cy="411480"/>
          </a:xfrm>
          <a:prstGeom prst="roundRect">
            <a:avLst/>
          </a:prstGeom>
          <a:solidFill>
            <a:srgbClr val="141B3D"/>
          </a:solidFill>
          <a:ln w="12700">
            <a:solidFill>
              <a:srgbClr val="10E0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675120" y="3675888"/>
            <a:ext cx="2194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>
                <a:solidFill>
                  <a:srgbClr val="10E0A0"/>
                </a:solidFill>
                <a:latin typeface="Calibri"/>
              </a:rPr>
              <a:t>LEGAL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9006840" y="3584448"/>
            <a:ext cx="2194560" cy="411480"/>
          </a:xfrm>
          <a:prstGeom prst="roundRect">
            <a:avLst/>
          </a:prstGeom>
          <a:solidFill>
            <a:srgbClr val="141B3D"/>
          </a:solidFill>
          <a:ln w="1270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006840" y="3675888"/>
            <a:ext cx="2194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>
                <a:solidFill>
                  <a:srgbClr val="F59E0B"/>
                </a:solidFill>
                <a:latin typeface="Calibri"/>
              </a:rPr>
              <a:t>RESEARCH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675120" y="4105656"/>
            <a:ext cx="2194560" cy="411480"/>
          </a:xfrm>
          <a:prstGeom prst="roundRect">
            <a:avLst/>
          </a:prstGeom>
          <a:solidFill>
            <a:srgbClr val="141B3D"/>
          </a:solidFill>
          <a:ln w="12700">
            <a:solidFill>
              <a:srgbClr val="FF6B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675120" y="4197096"/>
            <a:ext cx="2194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>
                <a:solidFill>
                  <a:srgbClr val="FF6B6B"/>
                </a:solidFill>
                <a:latin typeface="Calibri"/>
              </a:rPr>
              <a:t>MEDICAL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9006840" y="4105656"/>
            <a:ext cx="2194560" cy="411480"/>
          </a:xfrm>
          <a:prstGeom prst="roundRect">
            <a:avLst/>
          </a:prstGeom>
          <a:solidFill>
            <a:srgbClr val="141B3D"/>
          </a:solidFill>
          <a:ln w="12700">
            <a:solidFill>
              <a:srgbClr val="00D4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006840" y="4197096"/>
            <a:ext cx="2194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>
                <a:solidFill>
                  <a:srgbClr val="00D4FF"/>
                </a:solidFill>
                <a:latin typeface="Calibri"/>
              </a:rPr>
              <a:t>CODE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675120" y="4626864"/>
            <a:ext cx="2194560" cy="411480"/>
          </a:xfrm>
          <a:prstGeom prst="roundRect">
            <a:avLst/>
          </a:prstGeom>
          <a:solidFill>
            <a:srgbClr val="141B3D"/>
          </a:solidFill>
          <a:ln w="12700">
            <a:solidFill>
              <a:srgbClr val="8B5C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675120" y="4718304"/>
            <a:ext cx="2194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>
                <a:solidFill>
                  <a:srgbClr val="8B5CF6"/>
                </a:solidFill>
                <a:latin typeface="Calibri"/>
              </a:rPr>
              <a:t>MATH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9006840" y="4626864"/>
            <a:ext cx="2194560" cy="411480"/>
          </a:xfrm>
          <a:prstGeom prst="roundRect">
            <a:avLst/>
          </a:prstGeom>
          <a:solidFill>
            <a:srgbClr val="141B3D"/>
          </a:solidFill>
          <a:ln w="12700">
            <a:solidFill>
              <a:srgbClr val="10E0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006840" y="4718304"/>
            <a:ext cx="2194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>
                <a:solidFill>
                  <a:srgbClr val="10E0A0"/>
                </a:solidFill>
                <a:latin typeface="Calibri"/>
              </a:rPr>
              <a:t>SCIENCE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675120" y="5486400"/>
            <a:ext cx="4572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A0AEC0"/>
                </a:solidFill>
                <a:latin typeface="Calibri"/>
              </a:rPr>
              <a:t>+ unlimited custom domains.  Per-customer marginal cost: ~$10-20.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40080" y="635508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F59E0B"/>
                </a:solidFill>
                <a:latin typeface="Calibri"/>
              </a:rPr>
              <a:t>Moat: frontier labs cannot ship this. Their unit economics depend on single-model API routing.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D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00D4FF"/>
                </a:solidFill>
                <a:latin typeface="Calibri"/>
              </a:rPr>
              <a:t>WHERE WE WIN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41148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6B7695"/>
                </a:solidFill>
                <a:latin typeface="Calibri"/>
              </a:rPr>
              <a:t>06 / 08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537960"/>
            <a:ext cx="914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>
                <a:solidFill>
                  <a:srgbClr val="6B7695"/>
                </a:solidFill>
                <a:latin typeface="Calibri"/>
              </a:rPr>
              <a:t>SYNAPTA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00584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Calibri"/>
              </a:rPr>
              <a:t>Indian BFSI back-office reasoning.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6916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>
                <a:solidFill>
                  <a:srgbClr val="A0AEC0"/>
                </a:solidFill>
                <a:latin typeface="Calibri"/>
              </a:rPr>
              <a:t>Compliance · Internal research · Fraud — workloads frontier APIs cannot legally serve.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560320"/>
            <a:ext cx="3611880" cy="2926080"/>
          </a:xfrm>
          <a:prstGeom prst="roundRect">
            <a:avLst/>
          </a:prstGeom>
          <a:solidFill>
            <a:srgbClr val="141B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2560320"/>
            <a:ext cx="164592" cy="2926080"/>
          </a:xfrm>
          <a:prstGeom prst="rect">
            <a:avLst/>
          </a:prstGeom>
          <a:solidFill>
            <a:srgbClr val="00D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2788920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00D4FF"/>
                </a:solidFill>
                <a:latin typeface="Calibri"/>
              </a:rPr>
              <a:t>01  COMPLIANCE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3108960"/>
            <a:ext cx="30632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Calibri"/>
              </a:rPr>
              <a:t>RBI / SEBI documentation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3703320"/>
            <a:ext cx="306324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A0AEC0"/>
                </a:solidFill>
                <a:latin typeface="Calibri"/>
              </a:rPr>
              <a:t>Auto-summarization, gap detection, and submission drafting on regulated documents that legally cannot leave the country.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4846320"/>
            <a:ext cx="30632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>
                <a:solidFill>
                  <a:srgbClr val="00D4FF"/>
                </a:solidFill>
                <a:latin typeface="Calibri"/>
              </a:rPr>
              <a:t>$80-150K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5166360"/>
            <a:ext cx="3063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A0AEC0"/>
                </a:solidFill>
                <a:latin typeface="Calibri"/>
              </a:rPr>
              <a:t>annual contract per institution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416552" y="2560320"/>
            <a:ext cx="3611880" cy="2926080"/>
          </a:xfrm>
          <a:prstGeom prst="roundRect">
            <a:avLst/>
          </a:prstGeom>
          <a:solidFill>
            <a:srgbClr val="141B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416552" y="2560320"/>
            <a:ext cx="164592" cy="292608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782312" y="2788920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8B5CF6"/>
                </a:solidFill>
                <a:latin typeface="Calibri"/>
              </a:rPr>
              <a:t>02  RESEARCH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782312" y="3108960"/>
            <a:ext cx="30632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Calibri"/>
              </a:rPr>
              <a:t>Equity &amp; credit analysis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782312" y="3703320"/>
            <a:ext cx="306324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A0AEC0"/>
                </a:solidFill>
                <a:latin typeface="Calibri"/>
              </a:rPr>
              <a:t>Mid-tier asset managers and NBFCs need GPT-4-class document reasoning but legally cannot use it. Adapter-tuned 30B closes the gap.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782312" y="4846320"/>
            <a:ext cx="30632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>
                <a:solidFill>
                  <a:srgbClr val="8B5CF6"/>
                </a:solidFill>
                <a:latin typeface="Calibri"/>
              </a:rPr>
              <a:t>$60-120K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782312" y="5166360"/>
            <a:ext cx="3063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A0AEC0"/>
                </a:solidFill>
                <a:latin typeface="Calibri"/>
              </a:rPr>
              <a:t>annual contract per institution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193024" y="2560320"/>
            <a:ext cx="3611880" cy="2926080"/>
          </a:xfrm>
          <a:prstGeom prst="roundRect">
            <a:avLst/>
          </a:prstGeom>
          <a:solidFill>
            <a:srgbClr val="141B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193024" y="2560320"/>
            <a:ext cx="164592" cy="2926080"/>
          </a:xfrm>
          <a:prstGeom prst="rect">
            <a:avLst/>
          </a:prstGeom>
          <a:solidFill>
            <a:srgbClr val="10E0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558784" y="2788920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10E0A0"/>
                </a:solidFill>
                <a:latin typeface="Calibri"/>
              </a:rPr>
              <a:t>03  FRAUD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558784" y="3108960"/>
            <a:ext cx="30632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Calibri"/>
              </a:rPr>
              <a:t>Pattern detection on PII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558784" y="3703320"/>
            <a:ext cx="306324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A0AEC0"/>
                </a:solidFill>
                <a:latin typeface="Calibri"/>
              </a:rPr>
              <a:t>Transaction-level reasoning over data that triggers DPDP Act protection. On-prem deployment is the only legal architecture.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558784" y="4846320"/>
            <a:ext cx="30632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>
                <a:solidFill>
                  <a:srgbClr val="10E0A0"/>
                </a:solidFill>
                <a:latin typeface="Calibri"/>
              </a:rPr>
              <a:t>$100-200K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558784" y="5166360"/>
            <a:ext cx="3063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A0AEC0"/>
                </a:solidFill>
                <a:latin typeface="Calibri"/>
              </a:rPr>
              <a:t>annual contract per institution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" y="585216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Calibri"/>
              </a:rPr>
              <a:t>~200 target institutions × $200K avg ACV  =  $40M ARR potential in wedge alone.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" y="626364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A0AEC0"/>
                </a:solidFill>
                <a:latin typeface="Calibri"/>
              </a:rPr>
              <a:t>Adjacencies: healthcare, defense, govt — same sovereignty buying motion.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D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00D4FF"/>
                </a:solidFill>
                <a:latin typeface="Calibri"/>
              </a:rPr>
              <a:t>WHY THIS GETS BUILT BY 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41148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6B7695"/>
                </a:solidFill>
                <a:latin typeface="Calibri"/>
              </a:rPr>
              <a:t>07 / 08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537960"/>
            <a:ext cx="914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>
                <a:solidFill>
                  <a:srgbClr val="6B7695"/>
                </a:solidFill>
                <a:latin typeface="Calibri"/>
              </a:rPr>
              <a:t>SYNAPTA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00584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00D4FF"/>
                </a:solidFill>
                <a:latin typeface="Calibri"/>
              </a:rPr>
              <a:t>Solo. 19. Built what 4-senior teams couldn't.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2011680"/>
            <a:ext cx="2697480" cy="2011680"/>
          </a:xfrm>
          <a:prstGeom prst="roundRect">
            <a:avLst/>
          </a:prstGeom>
          <a:solidFill>
            <a:srgbClr val="141B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2240280"/>
            <a:ext cx="22402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00D4FF"/>
                </a:solidFill>
                <a:latin typeface="Calibri"/>
              </a:rPr>
              <a:t>AGE 13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651760"/>
            <a:ext cx="22402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Calibri"/>
              </a:rPr>
              <a:t>Started shipping code.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3383280"/>
            <a:ext cx="22402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A0AEC0"/>
                </a:solidFill>
                <a:latin typeface="Calibri"/>
              </a:rPr>
              <a:t>5+ years deep before college.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502152" y="2011680"/>
            <a:ext cx="2697480" cy="2011680"/>
          </a:xfrm>
          <a:prstGeom prst="roundRect">
            <a:avLst/>
          </a:prstGeom>
          <a:solidFill>
            <a:srgbClr val="141B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730752" y="2240280"/>
            <a:ext cx="22402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00D4FF"/>
                </a:solidFill>
                <a:latin typeface="Calibri"/>
              </a:rPr>
              <a:t>ICPC INDIA 2024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30752" y="2651760"/>
            <a:ext cx="22402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Calibri"/>
              </a:rPr>
              <a:t>Built the prelims landing site.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30752" y="3383280"/>
            <a:ext cx="22402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A0AEC0"/>
                </a:solidFill>
                <a:latin typeface="Calibri"/>
              </a:rPr>
              <a:t>Lead tech for India's biggest competitive bootcamp.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364224" y="2011680"/>
            <a:ext cx="2697480" cy="2011680"/>
          </a:xfrm>
          <a:prstGeom prst="roundRect">
            <a:avLst/>
          </a:prstGeom>
          <a:solidFill>
            <a:srgbClr val="141B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92824" y="2240280"/>
            <a:ext cx="22402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00D4FF"/>
                </a:solidFill>
                <a:latin typeface="Calibri"/>
              </a:rPr>
              <a:t>BHARAT MANDAPAM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92824" y="2651760"/>
            <a:ext cx="22402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Calibri"/>
              </a:rPr>
              <a:t>VisionOS app in one week,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92824" y="3383280"/>
            <a:ext cx="22402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A0AEC0"/>
                </a:solidFill>
                <a:latin typeface="Calibri"/>
              </a:rPr>
              <a:t>starting from zero knowledge of the platform.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226296" y="2011680"/>
            <a:ext cx="2697480" cy="2011680"/>
          </a:xfrm>
          <a:prstGeom prst="roundRect">
            <a:avLst/>
          </a:prstGeom>
          <a:solidFill>
            <a:srgbClr val="141B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454896" y="2240280"/>
            <a:ext cx="22402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00D4FF"/>
                </a:solidFill>
                <a:latin typeface="Calibri"/>
              </a:rPr>
              <a:t>YESTERDAY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454896" y="2651760"/>
            <a:ext cx="22402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Calibri"/>
              </a:rPr>
              <a:t>Won international ECG hackathon.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454896" y="3383280"/>
            <a:ext cx="22402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A0AEC0"/>
                </a:solidFill>
                <a:latin typeface="Calibri"/>
              </a:rPr>
              <a:t>Hardware + ML + fine-tuned model in 12 of 48 hours.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40080" y="4297680"/>
            <a:ext cx="10972800" cy="1737360"/>
          </a:xfrm>
          <a:prstGeom prst="roundRect">
            <a:avLst/>
          </a:prstGeom>
          <a:solidFill>
            <a:srgbClr val="1C25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4400" y="4434840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00D4FF"/>
                </a:solidFill>
                <a:latin typeface="Calibri"/>
              </a:rPr>
              <a:t>ALREADY BUILT — SOLO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4400" y="475488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  <a:latin typeface="Calibri"/>
              </a:rPr>
              <a:t>Adapter system validated on Nemotron-30B (4-bit, RTX 5090).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4400" y="507492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  <a:latin typeface="Calibri"/>
              </a:rPr>
              <a:t>12 routing techniques tested, 4 papers in pipeline (NeurIPS submission May 4).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4400" y="539496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  <a:latin typeface="Calibri"/>
              </a:rPr>
              <a:t>20+ adapters trained across multiple base models.  Code Paradox: novel finding, n=200.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4400" y="571500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  <a:latin typeface="Calibri"/>
              </a:rPr>
              <a:t>WebSocket investor demo + adapter-routing visualization shipped.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" y="635508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F59E0B"/>
                </a:solidFill>
                <a:latin typeface="Calibri"/>
              </a:rPr>
              <a:t>What I need is leverage — capital, hardware, and customer access — not validation.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D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00D4FF"/>
                </a:solidFill>
                <a:latin typeface="Calibri"/>
              </a:rPr>
              <a:t>WHAT WE'RE RAISING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41148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6B7695"/>
                </a:solidFill>
                <a:latin typeface="Calibri"/>
              </a:rPr>
              <a:t>08 / 08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537960"/>
            <a:ext cx="914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>
                <a:solidFill>
                  <a:srgbClr val="6B7695"/>
                </a:solidFill>
                <a:latin typeface="Calibri"/>
              </a:rPr>
              <a:t>SYNAPTA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005840"/>
            <a:ext cx="109728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400" b="1">
                <a:solidFill>
                  <a:srgbClr val="FFFFFF"/>
                </a:solidFill>
                <a:latin typeface="Calibri"/>
              </a:rPr>
              <a:t>Raising $500K SAFE.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82880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>
                <a:solidFill>
                  <a:srgbClr val="A0AEC0"/>
                </a:solidFill>
                <a:latin typeface="Calibri"/>
              </a:rPr>
              <a:t>12-month runway to first 3 BFSI design partners and 200B-scale validation.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651760"/>
            <a:ext cx="5440680" cy="3291840"/>
          </a:xfrm>
          <a:prstGeom prst="roundRect">
            <a:avLst/>
          </a:prstGeom>
          <a:solidFill>
            <a:srgbClr val="141B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2880360"/>
            <a:ext cx="4572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00D4FF"/>
                </a:solidFill>
                <a:latin typeface="Calibri"/>
              </a:rPr>
              <a:t>USE OF FUNDS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3429000"/>
            <a:ext cx="10972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>
                <a:solidFill>
                  <a:srgbClr val="00D4FF"/>
                </a:solidFill>
                <a:latin typeface="Calibri"/>
              </a:rPr>
              <a:t>60%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011680" y="3520440"/>
            <a:ext cx="39319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Calibri"/>
              </a:rPr>
              <a:t>Cloud GPU access for 70-200B scaling validation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4206240"/>
            <a:ext cx="10972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>
                <a:solidFill>
                  <a:srgbClr val="00D4FF"/>
                </a:solidFill>
                <a:latin typeface="Calibri"/>
              </a:rPr>
              <a:t>25%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011680" y="4297680"/>
            <a:ext cx="39319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Calibri"/>
              </a:rPr>
              <a:t>First 3 BFSI design-partner deployments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4983480"/>
            <a:ext cx="10972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>
                <a:solidFill>
                  <a:srgbClr val="00D4FF"/>
                </a:solidFill>
                <a:latin typeface="Calibri"/>
              </a:rPr>
              <a:t>15%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011680" y="5074920"/>
            <a:ext cx="39319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Calibri"/>
              </a:rPr>
              <a:t>Founder + minimum infra to ship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63640" y="2651760"/>
            <a:ext cx="5440680" cy="3291840"/>
          </a:xfrm>
          <a:prstGeom prst="roundRect">
            <a:avLst/>
          </a:prstGeom>
          <a:solidFill>
            <a:srgbClr val="1C254F"/>
          </a:solidFill>
          <a:ln w="12700">
            <a:solidFill>
              <a:srgbClr val="00D4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92240" y="2880360"/>
            <a:ext cx="4572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00D4FF"/>
                </a:solidFill>
                <a:latin typeface="Calibri"/>
              </a:rPr>
              <a:t>TODAY'S ASK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2240" y="3200400"/>
            <a:ext cx="4572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A0AEC0"/>
                </a:solidFill>
                <a:latin typeface="Calibri"/>
              </a:rPr>
              <a:t>From this room, three things: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92240" y="3794760"/>
            <a:ext cx="6400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>
                <a:solidFill>
                  <a:srgbClr val="00D4FF"/>
                </a:solidFill>
                <a:latin typeface="Calibri"/>
              </a:rPr>
              <a:t>01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178040" y="3776472"/>
            <a:ext cx="4114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Azure / cloud GPU credits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178040" y="4087368"/>
            <a:ext cx="4114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A0AEC0"/>
                </a:solidFill>
                <a:latin typeface="Calibri"/>
              </a:rPr>
              <a:t>$50-150K to validate at 70B+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92240" y="4480560"/>
            <a:ext cx="6400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>
                <a:solidFill>
                  <a:srgbClr val="00D4FF"/>
                </a:solidFill>
                <a:latin typeface="Calibri"/>
              </a:rPr>
              <a:t>02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178040" y="4462272"/>
            <a:ext cx="4114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Two BFSI customer intros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178040" y="4773168"/>
            <a:ext cx="4114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A0AEC0"/>
                </a:solidFill>
                <a:latin typeface="Calibri"/>
              </a:rPr>
              <a:t>Mid-tier banks or NBFCs in India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92240" y="5166360"/>
            <a:ext cx="6400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>
                <a:solidFill>
                  <a:srgbClr val="00D4FF"/>
                </a:solidFill>
                <a:latin typeface="Calibri"/>
              </a:rPr>
              <a:t>03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78040" y="5148072"/>
            <a:ext cx="4114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Advisory relationship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178040" y="5458968"/>
            <a:ext cx="4114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A0AEC0"/>
                </a:solidFill>
                <a:latin typeface="Calibri"/>
              </a:rPr>
              <a:t>30 min / month for 12 months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" y="608076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Sovereign AI is a 5-year tailwind. We are 12 months ahead on the architecture.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" y="640080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F59E0B"/>
                </a:solidFill>
                <a:latin typeface="Calibri"/>
              </a:rPr>
              <a:t>The window to build the platform closes when frontier labs notice it exists.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